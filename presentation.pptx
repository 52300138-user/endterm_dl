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73" r:id="rId9"/>
    <p:sldId id="262" r:id="rId10"/>
    <p:sldId id="271" r:id="rId11"/>
    <p:sldId id="27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1" autoAdjust="0"/>
    <p:restoredTop sz="94660"/>
  </p:normalViewPr>
  <p:slideViewPr>
    <p:cSldViewPr snapToGrid="0" snapToObjects="1">
      <p:cViewPr>
        <p:scale>
          <a:sx n="25" d="100"/>
          <a:sy n="25" d="100"/>
        </p:scale>
        <p:origin x="946" y="9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Calibri"/>
              </a:rPr>
              <a:t>ĐỒ ÁN CUỐI KỲ — HỌC SÂU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9144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VQA Tiếng Việt  +  ABSA Khách Sạn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Task 1 — Trả lời câu hỏi trên ảnh động vật (90 loài)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Task 2 — Phân tích sắc thái theo khía cạnh (VLSP2018-Hotel)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Nhóm 52300115 — 52300135 — 52300138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GVHD: PGS. Lê Anh Cường  •  ĐH Tôn Đức Thắng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Tổng quan 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Hai bài toán độc lập, đều dùng pretrain backbone + LoRA + 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949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TASK 1 — VQA Tiếng Việt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5943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E2761"/>
                </a:solidFill>
                <a:latin typeface="Calibri"/>
              </a:rPr>
              <a:t>4 cấu hình:</a:t>
            </a:r>
          </a:p>
          <a:p>
            <a:pPr algn="ctr"/>
            <a:r>
              <a:rPr sz="1200" b="0">
                <a:solidFill>
                  <a:srgbClr val="1E2761"/>
                </a:solidFill>
                <a:latin typeface="Calibri"/>
              </a:rPr>
              <a:t>A1 / A2 (ViT+PhoBERT) · B1 / B2 (PaliGemma)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394960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E2761"/>
                </a:solidFill>
                <a:latin typeface="Calibri"/>
              </a:rPr>
              <a:t>Dataset: 90 loài × 6 q_type ≈ 32K cặp QA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4924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TASK 2 — ABSA Khách sạn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5943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E2761"/>
                </a:solidFill>
                <a:latin typeface="Calibri"/>
              </a:rPr>
              <a:t>Pipeline 3 stages:</a:t>
            </a:r>
          </a:p>
          <a:p>
            <a:pPr algn="ctr"/>
            <a:r>
              <a:rPr sz="1200" b="0">
                <a:solidFill>
                  <a:srgbClr val="1E2761"/>
                </a:solidFill>
                <a:latin typeface="Calibri"/>
              </a:rPr>
              <a:t>SFT → Critic Pretrain → PPO (deep RL)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349240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1E2761"/>
                </a:solidFill>
                <a:latin typeface="Calibri"/>
              </a:rPr>
              <a:t>Dataset VLSP2018: 34 aspects × 4 polarities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21295C"/>
                </a:solidFill>
                <a:latin typeface="Calibri"/>
              </a:rPr>
              <a:t>Kỹ thuật chung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2697480" cy="5029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2697480" cy="10058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Adapter low-rank, train ~1-2% params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657600"/>
            <a:ext cx="2697480" cy="5029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160520"/>
            <a:ext cx="2697480" cy="10058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QLoRA 4-bit, tiết kiệm VRAM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2697480" cy="5029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60520"/>
            <a:ext cx="2697480" cy="10058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DPO (Task 1) · PPO (Task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657600"/>
            <a:ext cx="2697480" cy="5029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Augment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4160520"/>
            <a:ext cx="2697480" cy="10058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Image flip/jitter + Text synonym/backtrans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600" b="1">
                <a:solidFill>
                  <a:srgbClr val="21295C"/>
                </a:solidFill>
                <a:latin typeface="Calibri"/>
              </a:rPr>
              <a:t>Cấu trúc trình bày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52160"/>
            <a:ext cx="10927080" cy="5943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1) Task 1 (slides 3-9): Bài toán → Hướng A (encoder + 2 decoder) → Hướng B (PaliGemma + QLoRA + DPO) → Kết quả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2) Task 2 (slides 10-14): Bài toán → 3 stage pipeline (SFT / Critic / PPO) → Kết quả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Bài toán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VQA tiếng Việt trên 90 loài động vật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949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VQA là gì?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137160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Cho cặp (Ảnh, Câu hỏi tiếng Việt) → sinh câu trả lời tiếng Việt.</a:t>
            </a:r>
          </a:p>
          <a:p>
            <a:pPr algn="l"/>
            <a:endParaRPr sz="12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Hai modality: Vision + Language.</a:t>
            </a:r>
          </a:p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Cốt lõi: Cross-modal Fusion để align hai không gian biểu diễn.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1691640" cy="10058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90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loài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200400"/>
            <a:ext cx="169164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~32K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00400"/>
            <a:ext cx="1737360" cy="10058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q_type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4924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 loại câu hỏi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6060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Nhận dạng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2606040" cy="384048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alibri"/>
              </a:rPr>
              <a:t>Đây là con gì?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26060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Màu sắc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148840"/>
            <a:ext cx="2606040" cy="384048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alibri"/>
              </a:rPr>
              <a:t>Con vật có màu gì?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6060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Đúng/Sai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79"/>
            <a:ext cx="2606040" cy="384048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alibri"/>
              </a:rPr>
              <a:t>Có phải sư tử không?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560320"/>
            <a:ext cx="26060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Hành động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926079"/>
            <a:ext cx="2606040" cy="384048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alibri"/>
              </a:rPr>
              <a:t>Con vật đang làm gì?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37560"/>
            <a:ext cx="26060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Môi trường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2606040" cy="384048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alibri"/>
              </a:rPr>
              <a:t>Sống ở đâu?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337560"/>
            <a:ext cx="26060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Đặc điểm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703320"/>
            <a:ext cx="2606040" cy="384048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alibri"/>
              </a:rPr>
              <a:t>Có lông không?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500" b="1">
                <a:solidFill>
                  <a:srgbClr val="21295C"/>
                </a:solidFill>
                <a:latin typeface="Calibri"/>
              </a:rPr>
              <a:t>Split &amp; Augmentation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5394960" cy="12801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Split level-image (chống leak):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Train 80%  •  Val 10%  •  Test 10%</a:t>
            </a:r>
          </a:p>
          <a:p>
            <a:pPr algn="l"/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Image aug: Flip · Rotate · ColorJitter · Crop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Text aug: Synonym · Random Delete · Back-Translation vi↔en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37760"/>
            <a:ext cx="5349240" cy="12801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Lý do augment text: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Câu hỏi ngắn, ít đa dạng diễn đạt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Tăng robustness với synonym (chó/cún, mèo/miu)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Back-translation tạo paraphrase tự nhiên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16CDC-88EE-69FD-310E-1DAE7317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B93C8D-7F1E-1BD2-377B-1AD8F28B8D5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E1C8EB-8636-2995-4AC9-795DC4E83F9F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0AEC9-A166-FC13-D9A2-44B4BA64C2A6}"/>
              </a:ext>
            </a:extLst>
          </p:cNvPr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Bài toán &amp;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75705-C33E-1A3B-4AB6-33E097C4433E}"/>
              </a:ext>
            </a:extLst>
          </p:cNvPr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VQA tiếng Việt trên 90 loài động vật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34B5A-AF6C-955D-361D-4CC7107DC560}"/>
              </a:ext>
            </a:extLst>
          </p:cNvPr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3 / 15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354284-2DE1-A1AB-5F0D-D44CABAF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326" y="886968"/>
            <a:ext cx="4673275" cy="16338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422C43B-678C-A485-3622-2B24095A3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5120"/>
            <a:ext cx="12041226" cy="388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9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Hướng A — Encoder + Co-Attention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Phần shared chung cho A1 và A2 (ViT + PhoBERT đều frozen)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029200" cy="4114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BRANCH ẢNH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4114800" cy="45720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onsolas"/>
              </a:rPr>
              <a:t>Image  [B, 3, 224, 224]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011680"/>
            <a:ext cx="0" cy="18288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212848"/>
            <a:ext cx="4114800" cy="411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Patch Embed 16×16  →  196 patches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624328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807208"/>
            <a:ext cx="411480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alibri"/>
              </a:rPr>
              <a:t>+ [CLS] token  →  197 tokens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3218688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401568"/>
            <a:ext cx="411480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ViT-Base/16  ❄ frozen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Transformer Encoder layers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3904487"/>
            <a:ext cx="0" cy="164593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4087368"/>
            <a:ext cx="4114800" cy="41148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onsolas"/>
              </a:rPr>
              <a:t>Patch tokens  [B, 197, 768]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051560"/>
            <a:ext cx="5029200" cy="41148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BRANCH CÂU HỎI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554480"/>
            <a:ext cx="4114800" cy="45720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onsolas"/>
              </a:rPr>
              <a:t>VN Text  →  PhoBERT BPE tokens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89720" y="2011680"/>
            <a:ext cx="0" cy="18288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0" y="2212848"/>
            <a:ext cx="4114800" cy="411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Token Embedding 768-dim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89720" y="2624328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0" y="2807208"/>
            <a:ext cx="411480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alibri"/>
              </a:rPr>
              <a:t>+ Position Embed + Type Embed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89720" y="3218688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32320" y="3401568"/>
            <a:ext cx="411480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PhoBERT-base  ❄ frozen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RoBERTa Encoder layers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3904487"/>
            <a:ext cx="0" cy="164593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32320" y="4087368"/>
            <a:ext cx="4114800" cy="41148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onsolas"/>
              </a:rPr>
              <a:t>Token embeds  [B, L, 768]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71800" y="4526280"/>
            <a:ext cx="1143000" cy="274320"/>
          </a:xfrm>
          <a:prstGeom prst="bentConnector3">
            <a:avLst/>
          </a:prstGeom>
          <a:ln w="31750">
            <a:solidFill>
              <a:srgbClr val="6A4C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092440" y="4526280"/>
            <a:ext cx="1097280" cy="274320"/>
          </a:xfrm>
          <a:prstGeom prst="bentConnector3">
            <a:avLst/>
          </a:prstGeom>
          <a:ln w="317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31920" y="4818888"/>
            <a:ext cx="4343400" cy="45720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CO-ATTENTION FUSION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5294376"/>
            <a:ext cx="4343400" cy="411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img→txt CrossAttn  +  txt→img CrossAttn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5724144"/>
            <a:ext cx="4343400" cy="411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Pool · Concat · Linear · LayerNorm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6163056"/>
            <a:ext cx="0" cy="18288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31920" y="6364224"/>
            <a:ext cx="4343400" cy="36576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21295C"/>
                </a:solidFill>
                <a:latin typeface="Consolas"/>
              </a:rPr>
              <a:t>fused vector  [B, 512]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120640"/>
            <a:ext cx="3383280" cy="1463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📚 Co-Attention</a:t>
            </a:r>
          </a:p>
          <a:p>
            <a:pPr algn="l"/>
            <a:endParaRPr sz="10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Q_img · K_txt → biết text token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  nào cần focus với mỗi patch</a:t>
            </a:r>
          </a:p>
          <a:p>
            <a:pPr algn="l"/>
            <a:endParaRPr sz="10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Q_txt · K_img → biết patch nào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  liên quan với mỗi token câu hỏi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5120640"/>
            <a:ext cx="3383280" cy="14630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Tại sao frozen?</a:t>
            </a:r>
          </a:p>
          <a:p>
            <a:pPr algn="l"/>
            <a:endParaRPr sz="10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• Pretrain ImageNet/CC + RoBERTa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  đã tốt với feature general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• Train chỉ Co-Attn + Decoder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• Tiết kiệm VRAM, chống overfit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Hướng A — Decoder A1 (LSTM) vs A2 (Transformer)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Hai cách generate trả lời từ fused vector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927080" cy="36576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onsolas"/>
              </a:rPr>
              <a:t>Input chung: fused vector [B, 512]  +  target sequence  →  predicted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3949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A1 · LSTM Decoder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02920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h₀, c₀ = Linear(fused) · 2 layers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377440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560320"/>
            <a:ext cx="5029200" cy="3657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Token Embedding [B, T, 256]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2926080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3108960"/>
            <a:ext cx="502920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LSTM Cell × 2 layers  (hidden 512)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h_t, c_t = LSTM(emb_t, h_{t-1}, c_{t-1})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977639"/>
            <a:ext cx="0" cy="164593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4160520"/>
            <a:ext cx="502920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Linear → Vocab logits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80" y="4526280"/>
            <a:ext cx="0" cy="164592"/>
          </a:xfrm>
          <a:prstGeom prst="bentConnector3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709160"/>
            <a:ext cx="5029200" cy="36576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Softmax → next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80"/>
            <a:ext cx="5029200" cy="12801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Teacher Forcing khi train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(input = ground-truth shifted)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Greedy / Beam search khi test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Training: ~6 epochs, BLEU-4 0.195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BERTScore F1 = 58.09%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44068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A2 · Transformer Decoder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11680"/>
            <a:ext cx="5120640" cy="3657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Memory = fused [B, 1, 512]   ·   Target emb [B, T, 256]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2377440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2560320"/>
            <a:ext cx="5120640" cy="5029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Masked Multi-Head Self-Attn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(causal mask, 8 heads)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3063240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3218688"/>
            <a:ext cx="5120640" cy="5029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Cross-Attention với Memory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(Query=tgt, Key=Value=fused)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0" y="3721608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3877056"/>
            <a:ext cx="5120640" cy="411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FFN (2-layer MLP, GeLU)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0" y="4288536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521440" y="32918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96167"/>
                </a:solidFill>
                <a:latin typeface="Consolas"/>
              </a:rPr>
              <a:t>×2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43984"/>
            <a:ext cx="5120640" cy="36576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Linear → Vocab → Softmax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212080"/>
            <a:ext cx="5120640" cy="12801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2 layers, 8 attention heads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Cross-attn cho phép truy vấn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fused vector ở mọi step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Training: ~10 epochs, BLEU-4 0.184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BERTScore F1 = 57.60%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400800"/>
            <a:ext cx="11338560" cy="32004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Kết quả gần như tương đương (dataset nhỏ ~32K) — Transformer chỉ thắng nhẹ về convergence 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Hướng B — PaliGemma 3B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Vision Language Model end-to-end của Google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3657600" cy="3657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Image  [B, 3, 224, 224]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005840"/>
            <a:ext cx="3703320" cy="3657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Text prompt + 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1371600"/>
            <a:ext cx="0" cy="137160"/>
          </a:xfrm>
          <a:prstGeom prst="bentConnector3">
            <a:avLst/>
          </a:prstGeom>
          <a:ln w="25400">
            <a:solidFill>
              <a:srgbClr val="6A4C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92640" y="1371600"/>
            <a:ext cx="0" cy="137160"/>
          </a:xfrm>
          <a:prstGeom prst="bentConnector3">
            <a:avLst/>
          </a:prstGeom>
          <a:ln w="2540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1554480"/>
            <a:ext cx="3657600" cy="45720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SigLIP-So400m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365760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Patch 14×14 → 256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365760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Vision Transformer 27 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365760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Pretrained Sigmoid loss</a:t>
            </a:r>
          </a:p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(thay Softmax — dataset độc lập)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383280"/>
            <a:ext cx="0" cy="137160"/>
          </a:xfrm>
          <a:prstGeom prst="bentConnector3">
            <a:avLst/>
          </a:prstGeom>
          <a:ln w="25400">
            <a:solidFill>
              <a:srgbClr val="6A4C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538728"/>
            <a:ext cx="3657600" cy="41148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onsolas"/>
              </a:rPr>
              <a:t>visual tokens [B, 256, 1152]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3400" y="3749039"/>
            <a:ext cx="73152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3520440"/>
            <a:ext cx="2194560" cy="59436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Linear Projection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1152 → 2048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91509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0">
                <a:solidFill>
                  <a:srgbClr val="6B7385"/>
                </a:solidFill>
                <a:latin typeface="Consolas"/>
              </a:rPr>
              <a:t>(align tex</a:t>
            </a:r>
            <a:r>
              <a:rPr lang="en-US" sz="900" b="0">
                <a:solidFill>
                  <a:srgbClr val="6B7385"/>
                </a:solidFill>
                <a:latin typeface="Consolas"/>
              </a:rPr>
              <a:t>t</a:t>
            </a:r>
            <a:r>
              <a:rPr sz="900" b="0">
                <a:solidFill>
                  <a:srgbClr val="6B7385"/>
                </a:solidFill>
                <a:latin typeface="Consolas"/>
              </a:rPr>
              <a:t>/vis space)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60920" y="3749039"/>
            <a:ext cx="73152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63840" y="1554480"/>
            <a:ext cx="3703320" cy="457200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Gemma Tokenizer (SP)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011680"/>
            <a:ext cx="370332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Tokens → Token Embedding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2423160"/>
            <a:ext cx="370332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vocab 256K · embed dim 2048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926080"/>
            <a:ext cx="370332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+ Positional Embedding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3337560"/>
            <a:ext cx="0" cy="182880"/>
          </a:xfrm>
          <a:prstGeom prst="bentConnector3">
            <a:avLst/>
          </a:prstGeom>
          <a:ln w="2540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63840" y="3538728"/>
            <a:ext cx="3703320" cy="41148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onsolas"/>
              </a:rPr>
              <a:t>text embeds [B, T, 2048]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3650" y="4270248"/>
            <a:ext cx="2194560" cy="41148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CONCAT [vis ⊕ text]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0" y="4663440"/>
            <a:ext cx="0" cy="18288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931920" y="4864608"/>
            <a:ext cx="434340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🧠 Gemma-2B Decoder-only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5367528"/>
            <a:ext cx="4343400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18 Transformer Decoder Blocks</a:t>
            </a:r>
          </a:p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Group-Query Attention + RMSNorm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5852160"/>
            <a:ext cx="0" cy="137160"/>
          </a:xfrm>
          <a:prstGeom prst="bentConnector3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31920" y="6007608"/>
            <a:ext cx="4343400" cy="36576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Next-Token Prediction → Answer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329184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📚 PaliGemma</a:t>
            </a:r>
          </a:p>
          <a:p>
            <a:pPr algn="l"/>
            <a:endParaRPr sz="10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VLM kiến trúc đơn giản: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Visual encoder → linear → LM</a:t>
            </a:r>
          </a:p>
          <a:p>
            <a:pPr algn="l"/>
            <a:endParaRPr sz="10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Train: 3 stage by Google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→ aligned VL representations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→ instruction follow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572000"/>
            <a:ext cx="3383280" cy="18288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Tổng tham số ≈ 2.92B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  Vision: ~400M (SigLIP)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  Linear: ~2.4M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  LM: ~2.5B (Gemma)</a:t>
            </a:r>
          </a:p>
          <a:p>
            <a:pPr algn="l"/>
            <a:endParaRPr sz="10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VRAM full: ~12GB FP16</a:t>
            </a:r>
          </a:p>
          <a:p>
            <a:pPr algn="l"/>
            <a:r>
              <a:rPr sz="1000" b="0">
                <a:solidFill>
                  <a:srgbClr val="21295C"/>
                </a:solidFill>
                <a:latin typeface="Calibri"/>
              </a:rPr>
              <a:t>→ cần QLoRA để fine-tune trên T4/L4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6A54-F9A1-EB1D-B732-5981493F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71D115-D68C-CAF7-D119-E637C8B2C9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516484-F631-646E-C8D9-9A69DE76820A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7D8CC-A633-AADE-9F57-7E685B71C9D1}"/>
              </a:ext>
            </a:extLst>
          </p:cNvPr>
          <p:cNvSpPr txBox="1"/>
          <p:nvPr/>
        </p:nvSpPr>
        <p:spPr>
          <a:xfrm>
            <a:off x="457200" y="109728"/>
            <a:ext cx="11277295" cy="424732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Hướng B</a:t>
            </a:r>
            <a:r>
              <a:rPr lang="en-US" sz="2400" b="1">
                <a:solidFill>
                  <a:srgbClr val="FFFFFF"/>
                </a:solidFill>
                <a:latin typeface="Calibri"/>
              </a:rPr>
              <a:t>1</a:t>
            </a:r>
            <a:r>
              <a:rPr sz="2400" b="1">
                <a:solidFill>
                  <a:srgbClr val="FFFFFF"/>
                </a:solidFill>
                <a:latin typeface="Calibri"/>
              </a:rPr>
              <a:t> — PaliGemma 3B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481C5-2254-FF38-E721-5AE437A8A9ED}"/>
              </a:ext>
            </a:extLst>
          </p:cNvPr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Vision Language Model end-to-end của Google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75F1E9-7A91-5201-502F-BF6A22CFD397}"/>
              </a:ext>
            </a:extLst>
          </p:cNvPr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6 / 15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EC7DDE3-6807-ABA0-2BE2-1A66B2C0A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808"/>
            <a:ext cx="11861033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0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B2 — QLoRA Fine-tune chi tiết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Quantize backbone 4-bit + insert LoRA adapter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Cơ chế LoRA Adapter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371600" cy="1371600"/>
          </a:xfrm>
          <a:prstGeom prst="round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W₀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(d × d)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❄ FROZEN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000" b="1">
                <a:solidFill>
                  <a:srgbClr val="6B7385"/>
                </a:solidFill>
                <a:latin typeface="Consolas"/>
              </a:rPr>
              <a:t>4-bit NF4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3200" b="1">
                <a:solidFill>
                  <a:srgbClr val="1E2761"/>
                </a:solidFill>
                <a:latin typeface="Calibri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00200"/>
            <a:ext cx="914400" cy="64008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(d × 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40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6B7385"/>
                </a:solidFill>
                <a:latin typeface="Consolas"/>
              </a:rPr>
              <a:t>↓ rank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1600200"/>
            <a:ext cx="914400" cy="64008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(r × 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40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6B7385"/>
                </a:solidFill>
                <a:latin typeface="Consolas"/>
              </a:rPr>
              <a:t>↑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400" b="1">
                <a:solidFill>
                  <a:srgbClr val="1E2761"/>
                </a:solidFill>
                <a:latin typeface="Calibri"/>
              </a:rP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600200"/>
            <a:ext cx="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12080" y="2606040"/>
            <a:ext cx="73152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W' = W₀+AB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37560"/>
            <a:ext cx="5029200" cy="1554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Ý tưởng: ΔW = A·B với rank r ≪ d</a:t>
            </a:r>
          </a:p>
          <a:p>
            <a:pPr algn="l"/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r = 8 cho B2  (vs d = 2048)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Trainable params: 2 · d · r = ~33K / matrix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Giảm trainable từ 2.5B → ~30M (~1%)</a:t>
            </a:r>
          </a:p>
          <a:p>
            <a:pPr algn="l"/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Khi inference: merge W₀+AB → giữ tốc độ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5029200" cy="50292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y = x·W' = x·(W₀+AB) = x·W₀ + x·A·B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32120"/>
            <a:ext cx="5029200" cy="9601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Forward: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x·W₀ tính trên 4-bit (dequant on-the-fly)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x·A·B tính trên FP16 (trainable)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Cộng kết quả →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005840"/>
            <a:ext cx="544068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Vị trí inject LoRA trong Gemma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600200"/>
            <a:ext cx="5029200" cy="411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Input embedding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2011680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0" y="2167128"/>
            <a:ext cx="237744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RMSNorm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167128"/>
            <a:ext cx="2560320" cy="411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Self-Attention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596896"/>
            <a:ext cx="50292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596896"/>
            <a:ext cx="50292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2596896"/>
            <a:ext cx="50292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98480" y="2596896"/>
            <a:ext cx="64008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92608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0">
                <a:solidFill>
                  <a:srgbClr val="6B7385"/>
                </a:solidFill>
                <a:latin typeface="Consolas"/>
              </a:rPr>
              <a:t>q · k · v · o_proj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98280" y="3291840"/>
            <a:ext cx="0" cy="9144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0" y="3401568"/>
            <a:ext cx="237744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RMSNorm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3401568"/>
            <a:ext cx="2560320" cy="411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MLP (FFN)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831336"/>
            <a:ext cx="77724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3831336"/>
            <a:ext cx="77724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480" y="3831336"/>
            <a:ext cx="777240" cy="3200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16052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0">
                <a:solidFill>
                  <a:srgbClr val="6B7385"/>
                </a:solidFill>
                <a:latin typeface="Consolas"/>
              </a:rPr>
              <a:t>gate · up · 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29260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96167"/>
                </a:solidFill>
                <a:latin typeface="Consolas"/>
              </a:rPr>
              <a:t>× 18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572000"/>
            <a:ext cx="5440680" cy="41148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Hyperparams B2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983480"/>
            <a:ext cx="5440680" cy="1554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r = 8, alpha = 16 (scale 2.0)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Quantize 4-bit NF4 + Double Quant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Paged AdamW 8-bit optimizer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LR 2e-4, batch 4, grad_accum 4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Early stop: step 16K (~55% epoch 1)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→ VRAM peak ~10GB (vs 24GB FP16)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E331-B9C1-8572-9E40-33EEC1A9F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1EC9E8-3563-2322-9597-1596FA47371E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04813-A5F7-514C-F272-782CD7553D33}"/>
              </a:ext>
            </a:extLst>
          </p:cNvPr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B2 — QLoRA Fine-tune chi tiết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F3E60-ECDD-A091-6899-1E408D15267D}"/>
              </a:ext>
            </a:extLst>
          </p:cNvPr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Quantize backbone 4-bit + insert LoRA adapter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28497A-6B64-556C-8769-7266038DD608}"/>
              </a:ext>
            </a:extLst>
          </p:cNvPr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7 / 15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45338E4-C1C6-4E7F-0DA9-58E54BA8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488" y="1342977"/>
            <a:ext cx="5734771" cy="417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9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D80E-864F-0719-213D-EADA152E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4A295B-875E-5DD2-E75C-45E3D31D9CFA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2ADB2-5781-0AD4-5DEA-C271AFAAF970}"/>
              </a:ext>
            </a:extLst>
          </p:cNvPr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B2 — QLoRA Fine-tune chi tiết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06900-13C2-F816-5E1E-270A788C5CDC}"/>
              </a:ext>
            </a:extLst>
          </p:cNvPr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Quantize backbone 4-bit + insert LoRA adapter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C559D1-B472-E331-5E27-6DF394C0BAD1}"/>
              </a:ext>
            </a:extLst>
          </p:cNvPr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7 / 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9AE4D-13FE-39CD-56E5-F78E3E5A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808"/>
            <a:ext cx="12191695" cy="641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52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DPO — Direct Preference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Refine B2 với preference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94960" cy="45720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MÔ HÌNH ACTIVE (trainable)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39496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B2 SFT (init)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29968"/>
            <a:ext cx="539496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PaliGemma + LoRA r=8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539496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→ π_θ(y|x) (policy)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05840"/>
            <a:ext cx="5440680" cy="457200"/>
          </a:xfrm>
          <a:prstGeom prst="round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MÔ HÌNH REFERENCE  ❄ frozen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44068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B2 SFT (copy frozen)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29968"/>
            <a:ext cx="544068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Cùng weights, không cập nhật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5440680" cy="411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→ π_ref(y|x) (anchor)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292840" cy="4572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PREFERENCE DATA (300 cặp)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84448"/>
            <a:ext cx="3657600" cy="7772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Prompt x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(ảnh + câu hỏi)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584448"/>
            <a:ext cx="3657600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y_w (chosen)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Câu trả lời TỐT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584448"/>
            <a:ext cx="3657600" cy="77724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y_l (rejected)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Câu trả lời TỆ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9284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DPO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11292840" cy="64008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L_DPO  =  −E[ log σ( β · ( log π_θ(y_w|x)/π_ref(y_w|x)  −  log π_θ(y_l|x)/π_ref(y_l|x) ) )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06440"/>
            <a:ext cx="5394960" cy="7772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↑ log π_θ(y_w) so với π_ref(y_w)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↓ log π_θ(y_l) so với π_ref(y_l)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806440"/>
            <a:ext cx="5440680" cy="7772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β = KL strength · σ = sigmoid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Không cần Reward Model riêng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1 · Kết quả 4 cấu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Test set 3,240 mẫu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972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Cấu hình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4389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Mô tả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9" y="1188720"/>
            <a:ext cx="13716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15544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BLEU-4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188720"/>
            <a:ext cx="19202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BERTScore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109728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A1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691640"/>
            <a:ext cx="438912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0">
                <a:solidFill>
                  <a:srgbClr val="21295C"/>
                </a:solidFill>
                <a:latin typeface="Calibri"/>
              </a:rPr>
              <a:t>ViT+PhoBERT+LSTM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691640"/>
            <a:ext cx="137160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6.4%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691640"/>
            <a:ext cx="155448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0.195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1691640"/>
            <a:ext cx="192024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58.09%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9456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219456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0">
                <a:solidFill>
                  <a:srgbClr val="21295C"/>
                </a:solidFill>
                <a:latin typeface="Calibri"/>
              </a:rPr>
              <a:t>ViT+PhoBERT+Trans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2194560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6.3%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19456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0.184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59" y="2194560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57.60%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697480"/>
            <a:ext cx="109728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B1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697480"/>
            <a:ext cx="438912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0">
                <a:solidFill>
                  <a:srgbClr val="21295C"/>
                </a:solidFill>
                <a:latin typeface="Calibri"/>
              </a:rPr>
              <a:t>PaliGemma zero-shot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2697480"/>
            <a:ext cx="137160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0.0%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697480"/>
            <a:ext cx="155448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0.020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59" y="2697480"/>
            <a:ext cx="1920240" cy="502920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21295C"/>
                </a:solidFill>
                <a:latin typeface="Calibri"/>
              </a:rPr>
              <a:t>66.94%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00400"/>
            <a:ext cx="109728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B2 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3200400"/>
            <a:ext cx="438912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PaliGemma + QLoRA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79" y="3200400"/>
            <a:ext cx="137160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7.53%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3200400"/>
            <a:ext cx="155448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0.205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3200400"/>
            <a:ext cx="192024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81.00%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53949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💡 Nhận xét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29200"/>
            <a:ext cx="5394960" cy="141732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B2 (QLoRA) &gt;&gt; B1: SFT giải quyết bias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   ngôn ngữ của zero-shot Gemma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A1/A2 BERTScore thấp hơn B vì decoder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   train from scratch, ít vốn ngôn ngữ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A1 (LSTM) ≈ A2 (Transformer): dataset nhỏ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26280"/>
            <a:ext cx="5349240" cy="45720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⚠️ Hạn chế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29200"/>
            <a:ext cx="5349240" cy="1417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EM thấp: tiếng Việt đa dạng diễn đạt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   ("chó" / "con chó" / "chú chó")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EM-BERTScore lệch pha: model đúng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   ngữ nghĩa nhưng khác chữ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Inference cost cao: B2 = 3B params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2 · ABSA Khách sạn — Bài toán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VLSP2018-SA-Hotel: 3000 train / 2000 dev / 600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949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Bài toán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94960" cy="17830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Review khách sạn → 34 aspects × 4 polarities</a:t>
            </a:r>
          </a:p>
          <a:p>
            <a:pPr algn="l"/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None (0)     — Không đề cập (~87%)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Positive (1) — Tích cực (~9%)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Negative (2) — Tiêu cực (~3%)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• Neutral (3)  — Trung lập (~0.7%)</a:t>
            </a:r>
          </a:p>
          <a:p>
            <a:pPr algn="l"/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Imbalance cực mạnh, Neutral cực hiếm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5394960" cy="4572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Ví dụ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5394960" cy="24688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Review: "Phòng sạch sẽ, nhân viên thân thiện,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nhưng wifi chậm và đồ ăn ít món."</a:t>
            </a:r>
          </a:p>
          <a:p>
            <a:pPr algn="l"/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Label: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• ROOMS#CLEANLINESS = Positive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• SERVICE#GENERAL    = Positive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• ROOM_AMENITIES#QUALITY = Negative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• FOOD&amp;DRINKS#STYLE&amp;OPTIONS = Negative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• 30 aspects khác =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1663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Pipeline 3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51663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Stage 1 · SFT (Actor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57400"/>
            <a:ext cx="516636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alibri"/>
              </a:rPr>
              <a:t>PhoBERT+LoRA + Weighted CE Loss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83980" y="2606040"/>
            <a:ext cx="0" cy="13716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260604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0">
                <a:solidFill>
                  <a:srgbClr val="6B7385"/>
                </a:solidFill>
                <a:latin typeface="Consolas"/>
              </a:rPr>
              <a:t>save best_model_sft.bin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88920"/>
            <a:ext cx="51663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Stage 2 · Critic Pretrain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46120"/>
            <a:ext cx="516636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alibri"/>
              </a:rPr>
              <a:t>Freeze actor, train Critic head MSE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83980" y="3794760"/>
            <a:ext cx="0" cy="13716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0" y="379476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0">
                <a:solidFill>
                  <a:srgbClr val="6B7385"/>
                </a:solidFill>
                <a:latin typeface="Consolas"/>
              </a:rPr>
              <a:t>save actor_critic_pretrained.bin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5166360" cy="45720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Stage 3 · PPO (deep RL)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434840"/>
            <a:ext cx="516636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1E2761"/>
                </a:solidFill>
                <a:latin typeface="Calibri"/>
              </a:rPr>
              <a:t>Actor + Critic + KL với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900" b="0">
                <a:solidFill>
                  <a:srgbClr val="6B7385"/>
                </a:solidFill>
                <a:latin typeface="Consolas"/>
              </a:rPr>
              <a:t>save final_ppo_model.bin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349240"/>
            <a:ext cx="5166360" cy="10972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📚 PPO (Schulman 2017):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Clipped Surrogate Objective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Trust Region xấp xỉ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Critic làm baseline reduce 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2 · Stage 1 — SFT (Actor)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PhoBERT + LoRA + classifier head, train với weighted cross-entropy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0"/>
            <a:ext cx="3931920" cy="4572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Review tiếng Việt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463040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1645920"/>
            <a:ext cx="3931920" cy="411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ViTokenizer → BPE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057400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212848"/>
            <a:ext cx="3931920" cy="50292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onsolas"/>
              </a:rPr>
              <a:t>PhoBERT tokens [B, 256]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715768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2871216"/>
            <a:ext cx="534924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PhoBERT-base ❄ frozen (135M)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 LoRA r=16, α=32 (target: query · key · value)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877056"/>
            <a:ext cx="0" cy="146304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0" y="4041648"/>
            <a:ext cx="3931920" cy="41148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onsolas"/>
              </a:rPr>
              <a:t>[CLS] pool [B, 768]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453128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4608576"/>
            <a:ext cx="3931920" cy="411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Dropout(0.2)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020056"/>
            <a:ext cx="0" cy="13716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0" y="5175504"/>
            <a:ext cx="3931920" cy="5029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Linear (768 → 34×4)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5678424"/>
            <a:ext cx="0" cy="137160"/>
          </a:xfrm>
          <a:prstGeom prst="bentConnector3">
            <a:avLst/>
          </a:prstGeom>
          <a:ln w="25400">
            <a:solidFill>
              <a:srgbClr val="F961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0" y="5833872"/>
            <a:ext cx="3931920" cy="45720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logits  [B, 34, 4]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005840"/>
            <a:ext cx="35661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Trainable params chi tiết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1508760"/>
            <a:ext cx="3566160" cy="1554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LoRA q/k/v target trên 12 layer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→ ~885K trainable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Classifier head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Linear(768, 136)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→ 768 · 136 + 136 = ~104K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Total trainable: ~989K (0.7%)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00400"/>
            <a:ext cx="35661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Loss &amp; Class weights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703320"/>
            <a:ext cx="3566160" cy="13716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CrossEntropyLoss(weight=W)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W = [0.05, 1.0, 2.5, 5.0]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None / Pos / Neg / Neu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→ Đẩy attention sang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 class hiếm (Neu, Neg)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005840"/>
            <a:ext cx="35661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Training config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508760"/>
            <a:ext cx="3566160" cy="21945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Optimizer: AdamW lr=1e-5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Scheduler: linear + warmup 6%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Gradient clip: 1.0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EPOCHS = 10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PATIENCE = 3 (early stop)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BATCH = 16, MAX_LEN = 256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Track metric: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non_none_macro_f1 (dev)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40480"/>
            <a:ext cx="3566160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Kết quả Stage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343400"/>
            <a:ext cx="3566160" cy="1417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Best epoch: 4 / 10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Dev non_none_f1: 0.4560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Test non_none_f1: 0.4463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Neutral recall = 0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(133 sample quá ít)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2 · Stage 2 — Critic Pretrain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Thêm Critic head, freeze toàn bộ actor, học V(s) under sampled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0"/>
            <a:ext cx="3931920" cy="4572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Review tiếng Việt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463040"/>
            <a:ext cx="0" cy="182880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664208"/>
            <a:ext cx="5349240" cy="960120"/>
          </a:xfrm>
          <a:prstGeom prst="round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PhoBERT-base ❄  +  LoRA ❄ (load Stage 1)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CẢ HAI ĐỀU FROZEN trong Stage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624328"/>
            <a:ext cx="0" cy="16459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807208"/>
            <a:ext cx="3931920" cy="411480"/>
          </a:xfrm>
          <a:prstGeom prst="round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onsolas"/>
              </a:rPr>
              <a:t>[CLS] pool · Dropout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743200" y="3246120"/>
            <a:ext cx="2286000" cy="45720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78040" y="3246120"/>
            <a:ext cx="2286000" cy="45720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721608"/>
            <a:ext cx="4572000" cy="457200"/>
          </a:xfrm>
          <a:prstGeom prst="round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ACTOR head ❄ frozen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78808"/>
            <a:ext cx="4572000" cy="12801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Linear(768 → 136)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→ logits [B, 34, 4]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actions = Categorical(logits)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              .sample()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721608"/>
            <a:ext cx="4572000" cy="45720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CRITIC head ⚙ 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178808"/>
            <a:ext cx="4572000" cy="128016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Linear(768 → 34)  ← MỚI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→ V(s) [B, 34]</a:t>
            </a:r>
          </a:p>
          <a:p>
            <a:pPr algn="l"/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Ước lượng expected reward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dưới policy hiện tại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5458968"/>
            <a:ext cx="2103120" cy="393192"/>
          </a:xfrm>
          <a:prstGeom prst="bentConnector3">
            <a:avLst/>
          </a:prstGeom>
          <a:ln w="2540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78040" y="5458968"/>
            <a:ext cx="2103120" cy="393192"/>
          </a:xfrm>
          <a:prstGeom prst="bentConnector3">
            <a:avLst/>
          </a:prstGeom>
          <a:ln w="2540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5870448"/>
            <a:ext cx="2057400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compute_step_rewards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03620" y="6327648"/>
            <a:ext cx="0" cy="118872"/>
          </a:xfrm>
          <a:prstGeom prst="bentConnector3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5897880"/>
            <a:ext cx="4206240" cy="77724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Reward shaping: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+2 đúng Neg/Neu  ·  +1 Pos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0 None  ·  −1 sai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5897880"/>
            <a:ext cx="4206240" cy="77724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MSE(V(s), step_reward)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Chỉ critic params có gradient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→ train ~26K params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6446520"/>
            <a:ext cx="2057400" cy="36576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Sampled, NOT argmax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005840"/>
            <a:ext cx="32004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Tại sao sampled?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1508760"/>
            <a:ext cx="3200400" cy="118872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Stage 3 PPO sample stochastic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→ Critic phải học V(s) dưới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   stochastic policy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→ Nếu dùng argmax (greedy)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alibri"/>
              </a:rPr>
              <a:t>   sẽ bias advantage estimation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1005840"/>
            <a:ext cx="3200400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Kết quả Stage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1508760"/>
            <a:ext cx="3200400" cy="11887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Train: 3 epochs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val_MSE: 0.405 → 0.355</a:t>
            </a:r>
          </a:p>
          <a:p>
            <a:pPr algn="l"/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→ Critic hội tụ tốt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→ Sẵn sàng làm baseline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 cho PPO 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2 · Stage 3 — PPO Loop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Active model + Reference (frozen) + 4 bước cho mỗi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94960" cy="45720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ACTIVE Actor-Critic ⚙ train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39496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Load từ Stage 2 (actor_critic_pretrained.bin)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05840"/>
            <a:ext cx="5440680" cy="457200"/>
          </a:xfrm>
          <a:prstGeom prst="round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REFERENCE Actor-Critic ❄ frozen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44068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E2761"/>
                </a:solidFill>
                <a:latin typeface="Calibri"/>
              </a:rPr>
              <a:t>Copy từ Stage 2, không cập nhật (anchor cho KL)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2651760" cy="411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1️⃣  ROLLOUT  (no_grad)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2651760" cy="8686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active → logits, V(s)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ref → logits_ref</a:t>
            </a:r>
          </a:p>
          <a:p>
            <a:pPr algn="l"/>
            <a:endParaRPr sz="9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actions = Categorical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              (logits).sample()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log_p_old = log π_θ(a)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880360"/>
            <a:ext cx="22860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0" y="2240280"/>
            <a:ext cx="2651760" cy="41148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2️⃣  REWARD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651760"/>
            <a:ext cx="2651760" cy="8686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step_r = reward(act, label)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  +2 Neg/Neu  +1 Pos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  0 None  −1 sai</a:t>
            </a:r>
          </a:p>
          <a:p>
            <a:pPr algn="l"/>
            <a:endParaRPr sz="9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batch_f1 = F1_macro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R = 0.7·step_r + 0.3·f1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2880360"/>
            <a:ext cx="22860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2240280"/>
            <a:ext cx="265176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3️⃣  ADVANTAGE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51760"/>
            <a:ext cx="2651760" cy="8686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A = R − V(s)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  (advantage)</a:t>
            </a:r>
          </a:p>
          <a:p>
            <a:pPr algn="l"/>
            <a:endParaRPr sz="9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Normalize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  A = (A − mean) / std</a:t>
            </a:r>
          </a:p>
          <a:p>
            <a:pPr algn="l"/>
            <a:endParaRPr sz="9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→ Reduce variance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80360"/>
            <a:ext cx="22860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72600" y="2240280"/>
            <a:ext cx="2423160" cy="41148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4️⃣  UPDATE ×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651760"/>
            <a:ext cx="2423160" cy="8686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ratio = exp(log π_new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        − log π_old)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clip(ratio, 1±ε)</a:t>
            </a:r>
          </a:p>
          <a:p>
            <a:pPr algn="l"/>
            <a:endParaRPr sz="9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backward L</a:t>
            </a:r>
          </a:p>
          <a:p>
            <a:pPr algn="l"/>
            <a:r>
              <a:rPr sz="900" b="0">
                <a:solidFill>
                  <a:srgbClr val="1E2761"/>
                </a:solidFill>
                <a:latin typeface="Consolas"/>
              </a:rPr>
              <a:t>AdamW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1133856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PPO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11338560" cy="59436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L = L_clip  +  c1·L_value  −  c2·Entropy  +  c3·KL(π_new ‖ π_ref)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2743200" cy="141732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L_clip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= E[min(r·A,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clip(r,1±ε)·A)]</a:t>
            </a:r>
          </a:p>
          <a:p>
            <a:pPr algn="ctr"/>
            <a:endParaRPr sz="1000" b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ε = 0.2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trust region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846320"/>
            <a:ext cx="2743200" cy="14173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L_value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= MSE(V_new, R)</a:t>
            </a:r>
          </a:p>
          <a:p>
            <a:pPr algn="ctr"/>
            <a:endParaRPr sz="1000" b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c₁ = 0.5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critic train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song song với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846320"/>
            <a:ext cx="2743200" cy="14173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Entropy bonus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= H(π_new)</a:t>
            </a:r>
          </a:p>
          <a:p>
            <a:pPr algn="ctr"/>
            <a:endParaRPr sz="1000" b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c₂ = 0.05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giữ exploration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chống collapse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846320"/>
            <a:ext cx="2834640" cy="141732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KL penalty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= KL(π_new ‖ π_ref)</a:t>
            </a:r>
          </a:p>
          <a:p>
            <a:pPr algn="ctr"/>
            <a:endParaRPr sz="1000" b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c₃ = 0.3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→ bám reference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chống reward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400800"/>
            <a:ext cx="11338560" cy="36576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21295C"/>
                </a:solidFill>
                <a:latin typeface="Consolas"/>
              </a:rPr>
              <a:t>Hyperparams:  EPOCHS=3  ·  K=1 inner update  ·  LR=5e-6  ·  AdamW + warmup  ·  grad_clip=1.0  ·  eval mỗi 100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Task 2 · Kết quả &amp; Phân tích thẳng thắn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non_none_macro_f1 là metric chính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56616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Stage 1 SFT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0.4463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566160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non_none_macro_f1 (test)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128016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Stage 2 Critic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val_MSE 0.355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566160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Critic hội tụ tốt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429000" cy="128016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Stage 3 PPO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0.4463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468880"/>
            <a:ext cx="3429000" cy="457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0">
                <a:solidFill>
                  <a:srgbClr val="21295C"/>
                </a:solidFill>
                <a:latin typeface="Calibri"/>
              </a:rPr>
              <a:t>= SFT, không vượt được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00400"/>
            <a:ext cx="10927080" cy="50292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Tại sao PPO không vượt SFT? — Phân tích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94960" cy="1554480"/>
          </a:xfrm>
          <a:prstGeom prst="roundRect">
            <a:avLst/>
          </a:prstGeom>
          <a:solidFill>
            <a:srgbClr val="E8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🔍 Conflict objective: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• SFT đã train với class weights cực mạnh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  [0.05, 1, 2.5, 5] → actor đã ở extreme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• PPO + KL constraint kéo về reference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• Reward sample dễ thiên về None (87%)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  → reward hacking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349240" cy="15544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🔍 Đã thử 2 reward function: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• v1: Pos=1, Neg/Neu=2 → fail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• v2: Pos=3, Neg/Neu=5 → fail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Cả 2 đều đẩy policy về None</a:t>
            </a:r>
          </a:p>
          <a:p>
            <a:pPr algn="l"/>
            <a:endParaRPr sz="1100" b="0">
              <a:solidFill>
                <a:srgbClr val="21295C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→ Code save best by non_none_f1</a:t>
            </a:r>
          </a:p>
          <a:p>
            <a:pPr algn="l"/>
            <a:r>
              <a:rPr sz="1100" b="0">
                <a:solidFill>
                  <a:srgbClr val="21295C"/>
                </a:solidFill>
                <a:latin typeface="Calibri"/>
              </a:rPr>
              <a:t>   nên final = init = SFT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10927080" cy="1005840"/>
          </a:xfrm>
          <a:prstGeom prst="round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🎯 Nguyên nhân gốc rễ: dataset VLSP2018 imbalance cực nặng (87% None).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 PPO + accuracy-based reward đẩy policy về majority class. Class-imbalance là limitation cố hữu, không phải lỗi triển khai.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 Kết quả final: dùng Stage 1 SFT làm production model, Stage 3 PPO chứng minh framework đầy đủ.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r"/>
            <a:r>
              <a:rPr sz="1000" b="0">
                <a:solidFill>
                  <a:srgbClr val="6B738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1371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2200" b="0">
                <a:solidFill>
                  <a:srgbClr val="CADCFC"/>
                </a:solidFill>
                <a:latin typeface="Calibri"/>
              </a:rPr>
              <a:t>Cảm ơn thầy và các bạn đã lắng nghe!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Nhóm 52300115 — 52300135 — 52300138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t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GVHD: PGS. Lê Anh Cường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3188</Words>
  <Application>Microsoft Office PowerPoint</Application>
  <PresentationFormat>Widescreen</PresentationFormat>
  <Paragraphs>519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nhan nguyen</cp:lastModifiedBy>
  <cp:revision>4</cp:revision>
  <dcterms:created xsi:type="dcterms:W3CDTF">2013-01-27T09:14:16Z</dcterms:created>
  <dcterms:modified xsi:type="dcterms:W3CDTF">2026-05-09T02:08:25Z</dcterms:modified>
  <cp:category/>
</cp:coreProperties>
</file>